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592" y="64"/>
      </p:cViewPr>
      <p:guideLst>
        <p:guide orient="horz" pos="2160"/>
        <p:guide pos="2880"/>
        <p:guide orient="horz" pos="22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8929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7935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1580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99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7486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1018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6800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3020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645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3596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6847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1FF6DA9-008F-8B48-92A6-B652298478BF}"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89743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1704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3374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9587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56409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118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09735667"/>
      </p:ext>
    </p:extLst>
  </p:cSld>
  <p:clrMap bg1="dk1" tx1="lt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6732" y="1189425"/>
            <a:ext cx="10429190" cy="1039501"/>
          </a:xfrm>
        </p:spPr>
        <p:txBody>
          <a:bodyPr>
            <a:normAutofit fontScale="90000"/>
          </a:bodyPr>
          <a:lstStyle/>
          <a:p>
            <a:pPr algn="ctr">
              <a:lnSpc>
                <a:spcPct val="150000"/>
              </a:lnSpc>
            </a:pPr>
            <a:r>
              <a:rPr lang="en-US" sz="3600" b="1" dirty="0">
                <a:latin typeface="Times New Roman" panose="02020603050405020304" pitchFamily="18" charset="0"/>
                <a:cs typeface="Times New Roman" panose="02020603050405020304" pitchFamily="18" charset="0"/>
              </a:rPr>
              <a:t>PROJECT FORESIGHT</a:t>
            </a:r>
            <a:br>
              <a:rPr lang="en-US"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Demand &amp; Inventory Intelligence</a:t>
            </a:r>
            <a:endParaRPr sz="1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52655" y="2633321"/>
            <a:ext cx="10539167" cy="400110"/>
          </a:xfrm>
          <a:prstGeom prst="rect">
            <a:avLst/>
          </a:prstGeom>
          <a:noFill/>
        </p:spPr>
        <p:txBody>
          <a:bodyPr wrap="square">
            <a:spAutoFit/>
          </a:bodyPr>
          <a:lstStyle/>
          <a:p>
            <a:pPr marL="342900" indent="-342900">
              <a:buFont typeface="Wingdings" panose="05000000000000000000" pitchFamily="2" charset="2"/>
              <a:buChar char="Ø"/>
              <a:defRPr sz="2000"/>
            </a:pPr>
            <a:r>
              <a:rPr lang="en-US" dirty="0">
                <a:latin typeface="Times New Roman" panose="02020603050405020304" pitchFamily="18" charset="0"/>
                <a:cs typeface="Times New Roman" panose="02020603050405020304" pitchFamily="18" charset="0"/>
              </a:rPr>
              <a:t>Retail Demand Forecasting &amp; Inventory Risk Analysis Using Machine Learning</a:t>
            </a: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809975-B554-0555-260F-0551161B1F0B}"/>
              </a:ext>
            </a:extLst>
          </p:cNvPr>
          <p:cNvSpPr txBox="1"/>
          <p:nvPr/>
        </p:nvSpPr>
        <p:spPr>
          <a:xfrm>
            <a:off x="1014948" y="3170689"/>
            <a:ext cx="10539167" cy="707886"/>
          </a:xfrm>
          <a:prstGeom prst="rect">
            <a:avLst/>
          </a:prstGeom>
          <a:noFill/>
        </p:spPr>
        <p:txBody>
          <a:bodyPr wrap="square">
            <a:spAutoFit/>
          </a:bodyPr>
          <a:lstStyle/>
          <a:p>
            <a:pPr marL="342900" indent="-342900">
              <a:buFont typeface="Wingdings" panose="05000000000000000000" pitchFamily="2" charset="2"/>
              <a:buChar char="Ø"/>
              <a:defRPr sz="2000"/>
            </a:pPr>
            <a:r>
              <a:rPr lang="en-US" dirty="0">
                <a:latin typeface="Times New Roman" panose="02020603050405020304" pitchFamily="18" charset="0"/>
                <a:cs typeface="Times New Roman" panose="02020603050405020304" pitchFamily="18" charset="0"/>
              </a:rPr>
              <a:t>Project Domain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Machine Learning • Data Analytics • Demand Forecasting • Inventory Risk Management</a:t>
            </a:r>
            <a:endParaRPr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53447B5-6FFC-7716-069C-B17D8976FB90}"/>
              </a:ext>
            </a:extLst>
          </p:cNvPr>
          <p:cNvSpPr txBox="1"/>
          <p:nvPr/>
        </p:nvSpPr>
        <p:spPr>
          <a:xfrm>
            <a:off x="1014950" y="4131365"/>
            <a:ext cx="10539167" cy="707886"/>
          </a:xfrm>
          <a:prstGeom prst="rect">
            <a:avLst/>
          </a:prstGeom>
          <a:noFill/>
        </p:spPr>
        <p:txBody>
          <a:bodyPr wrap="square">
            <a:spAutoFit/>
          </a:bodyPr>
          <a:lstStyle/>
          <a:p>
            <a:pPr marL="342900" indent="-342900">
              <a:buFont typeface="Wingdings" panose="05000000000000000000" pitchFamily="2" charset="2"/>
              <a:buChar char="Ø"/>
              <a:defRPr sz="2000"/>
            </a:pPr>
            <a:r>
              <a:rPr lang="en-US" dirty="0">
                <a:latin typeface="Times New Roman" panose="02020603050405020304" pitchFamily="18" charset="0"/>
                <a:cs typeface="Times New Roman" panose="02020603050405020304" pitchFamily="18" charset="0"/>
              </a:rPr>
              <a:t>Technology Stack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Python • Pandas • NumPy • Scikit-learn • Random Forest • Streamlit</a:t>
            </a:r>
            <a:endParaRPr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56AEBD2-FB2B-342B-4DBD-3895E0A34600}"/>
              </a:ext>
            </a:extLst>
          </p:cNvPr>
          <p:cNvSpPr txBox="1"/>
          <p:nvPr/>
        </p:nvSpPr>
        <p:spPr>
          <a:xfrm>
            <a:off x="1014950" y="5092042"/>
            <a:ext cx="10539167" cy="707886"/>
          </a:xfrm>
          <a:prstGeom prst="rect">
            <a:avLst/>
          </a:prstGeom>
          <a:noFill/>
        </p:spPr>
        <p:txBody>
          <a:bodyPr wrap="square">
            <a:spAutoFit/>
          </a:bodyPr>
          <a:lstStyle/>
          <a:p>
            <a:pPr marL="342900" indent="-342900">
              <a:buFont typeface="Wingdings" panose="05000000000000000000" pitchFamily="2" charset="2"/>
              <a:buChar char="Ø"/>
              <a:defRPr sz="2000"/>
            </a:pPr>
            <a:r>
              <a:rPr lang="en-US" b="1" dirty="0">
                <a:latin typeface="Times New Roman" panose="02020603050405020304" pitchFamily="18" charset="0"/>
                <a:cs typeface="Times New Roman" panose="02020603050405020304" pitchFamily="18" charset="0"/>
              </a:rPr>
              <a:t>Project Presentation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2026</a:t>
            </a:r>
            <a:endParaRPr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62A8BF4-B7CC-322D-16BA-9AB8A3CDB341}"/>
              </a:ext>
            </a:extLst>
          </p:cNvPr>
          <p:cNvSpPr txBox="1"/>
          <p:nvPr/>
        </p:nvSpPr>
        <p:spPr>
          <a:xfrm>
            <a:off x="9153427" y="5791636"/>
            <a:ext cx="2400690" cy="707886"/>
          </a:xfrm>
          <a:prstGeom prst="rect">
            <a:avLst/>
          </a:prstGeom>
          <a:noFill/>
        </p:spPr>
        <p:txBody>
          <a:bodyPr wrap="square">
            <a:spAutoFit/>
          </a:bodyPr>
          <a:lstStyle/>
          <a:p>
            <a:pPr algn="r">
              <a:defRPr sz="2000"/>
            </a:pPr>
            <a:r>
              <a:rPr lang="en-US" b="1" dirty="0"/>
              <a:t>Presented By</a:t>
            </a:r>
            <a:br>
              <a:rPr lang="en-US" dirty="0"/>
            </a:br>
            <a:r>
              <a:rPr lang="en-US" b="1" dirty="0"/>
              <a:t>SYED FIROZ</a:t>
            </a:r>
            <a:endParaRPr dirty="0"/>
          </a:p>
        </p:txBody>
      </p:sp>
      <p:sp>
        <p:nvSpPr>
          <p:cNvPr id="10" name="TextBox 9">
            <a:extLst>
              <a:ext uri="{FF2B5EF4-FFF2-40B4-BE49-F238E27FC236}">
                <a16:creationId xmlns:a16="http://schemas.microsoft.com/office/drawing/2014/main" id="{9F7F581A-E116-C0C5-4F87-C64AEE4295CB}"/>
              </a:ext>
            </a:extLst>
          </p:cNvPr>
          <p:cNvSpPr txBox="1"/>
          <p:nvPr/>
        </p:nvSpPr>
        <p:spPr>
          <a:xfrm>
            <a:off x="760423" y="426735"/>
            <a:ext cx="10539167" cy="769441"/>
          </a:xfrm>
          <a:prstGeom prst="rect">
            <a:avLst/>
          </a:prstGeom>
          <a:noFill/>
        </p:spPr>
        <p:txBody>
          <a:bodyPr wrap="square">
            <a:spAutoFit/>
          </a:bodyPr>
          <a:lstStyle/>
          <a:p>
            <a:pPr algn="ctr">
              <a:defRPr sz="2000"/>
            </a:pPr>
            <a:r>
              <a:rPr lang="en-US" sz="4400" b="1" dirty="0">
                <a:solidFill>
                  <a:srgbClr val="0070C0"/>
                </a:solidFill>
                <a:latin typeface="Times New Roman" panose="02020603050405020304" pitchFamily="18" charset="0"/>
                <a:cs typeface="Times New Roman" panose="02020603050405020304" pitchFamily="18" charset="0"/>
              </a:rPr>
              <a:t>Zidio</a:t>
            </a:r>
            <a:r>
              <a:rPr lang="en-US" sz="4400" b="1" dirty="0">
                <a:latin typeface="Times New Roman" panose="02020603050405020304" pitchFamily="18" charset="0"/>
                <a:cs typeface="Times New Roman" panose="02020603050405020304" pitchFamily="18" charset="0"/>
              </a:rPr>
              <a:t> </a:t>
            </a:r>
            <a:r>
              <a:rPr lang="en-US" sz="4400" b="1" dirty="0">
                <a:solidFill>
                  <a:srgbClr val="0070C0"/>
                </a:solidFill>
                <a:latin typeface="Times New Roman" panose="02020603050405020304" pitchFamily="18" charset="0"/>
                <a:cs typeface="Times New Roman" panose="02020603050405020304" pitchFamily="18" charset="0"/>
              </a:rPr>
              <a:t>Development</a:t>
            </a:r>
            <a:endParaRPr sz="440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5233" y="274638"/>
            <a:ext cx="8229600" cy="856578"/>
          </a:xfrm>
        </p:spPr>
        <p:txBody>
          <a:bodyPr/>
          <a:lstStyle/>
          <a:p>
            <a:pPr algn="ctr"/>
            <a:r>
              <a:rPr lang="en-US" b="1" dirty="0"/>
              <a:t>PROBLEM STATEMENT</a:t>
            </a:r>
            <a:endParaRPr b="1" dirty="0"/>
          </a:p>
        </p:txBody>
      </p:sp>
      <p:sp>
        <p:nvSpPr>
          <p:cNvPr id="4" name="TextBox 3"/>
          <p:cNvSpPr txBox="1"/>
          <p:nvPr/>
        </p:nvSpPr>
        <p:spPr>
          <a:xfrm>
            <a:off x="857054" y="1263450"/>
            <a:ext cx="10515600" cy="707886"/>
          </a:xfrm>
          <a:prstGeom prst="rect">
            <a:avLst/>
          </a:prstGeom>
          <a:noFill/>
        </p:spPr>
        <p:txBody>
          <a:bodyPr wrap="square">
            <a:spAutoFit/>
          </a:bodyPr>
          <a:lstStyle/>
          <a:p>
            <a:pPr>
              <a:defRPr sz="2000"/>
            </a:pPr>
            <a:r>
              <a:rPr lang="en-US" dirty="0"/>
              <a:t>Retail businesses face continuous challenges in accurately predicting customer demand and maintaining optimal inventory levels.</a:t>
            </a:r>
            <a:endParaRPr dirty="0"/>
          </a:p>
        </p:txBody>
      </p:sp>
      <p:sp>
        <p:nvSpPr>
          <p:cNvPr id="8" name="TextBox 7">
            <a:extLst>
              <a:ext uri="{FF2B5EF4-FFF2-40B4-BE49-F238E27FC236}">
                <a16:creationId xmlns:a16="http://schemas.microsoft.com/office/drawing/2014/main" id="{7AE6E18A-0FD6-C165-69BA-920939161E85}"/>
              </a:ext>
            </a:extLst>
          </p:cNvPr>
          <p:cNvSpPr txBox="1"/>
          <p:nvPr/>
        </p:nvSpPr>
        <p:spPr>
          <a:xfrm>
            <a:off x="838200" y="2159869"/>
            <a:ext cx="10515600" cy="400110"/>
          </a:xfrm>
          <a:prstGeom prst="rect">
            <a:avLst/>
          </a:prstGeom>
          <a:noFill/>
        </p:spPr>
        <p:txBody>
          <a:bodyPr wrap="square">
            <a:spAutoFit/>
          </a:bodyPr>
          <a:lstStyle/>
          <a:p>
            <a:pPr marL="342900" indent="-342900">
              <a:buFont typeface="Wingdings" panose="05000000000000000000" pitchFamily="2" charset="2"/>
              <a:buChar char="q"/>
              <a:defRPr sz="2000"/>
            </a:pPr>
            <a:r>
              <a:rPr lang="en-US" dirty="0"/>
              <a:t>Traditional inventory planning can result in:</a:t>
            </a:r>
            <a:endParaRPr dirty="0"/>
          </a:p>
        </p:txBody>
      </p:sp>
      <p:sp>
        <p:nvSpPr>
          <p:cNvPr id="9" name="TextBox 8">
            <a:extLst>
              <a:ext uri="{FF2B5EF4-FFF2-40B4-BE49-F238E27FC236}">
                <a16:creationId xmlns:a16="http://schemas.microsoft.com/office/drawing/2014/main" id="{A4A8E4C0-6D22-35F0-BD38-A00F44A32293}"/>
              </a:ext>
            </a:extLst>
          </p:cNvPr>
          <p:cNvSpPr txBox="1"/>
          <p:nvPr/>
        </p:nvSpPr>
        <p:spPr>
          <a:xfrm>
            <a:off x="838200" y="2629491"/>
            <a:ext cx="10515600" cy="1938992"/>
          </a:xfrm>
          <a:prstGeom prst="rect">
            <a:avLst/>
          </a:prstGeom>
          <a:noFill/>
        </p:spPr>
        <p:txBody>
          <a:bodyPr wrap="square">
            <a:spAutoFit/>
          </a:bodyPr>
          <a:lstStyle/>
          <a:p>
            <a:pPr marL="342900" indent="-342900">
              <a:buFont typeface="Wingdings" panose="05000000000000000000" pitchFamily="2" charset="2"/>
              <a:buChar char="§"/>
              <a:defRPr sz="2000"/>
            </a:pPr>
            <a:r>
              <a:rPr lang="en-US" dirty="0">
                <a:latin typeface="Times New Roman" panose="02020603050405020304" pitchFamily="18" charset="0"/>
                <a:cs typeface="Times New Roman" panose="02020603050405020304" pitchFamily="18" charset="0"/>
              </a:rPr>
              <a:t>Stockouts when demand exceeds available inventory</a:t>
            </a:r>
          </a:p>
          <a:p>
            <a:pPr marL="342900" indent="-342900">
              <a:buFont typeface="Wingdings" panose="05000000000000000000" pitchFamily="2" charset="2"/>
              <a:buChar char="§"/>
              <a:defRPr sz="2000"/>
            </a:pPr>
            <a:r>
              <a:rPr lang="en-US" dirty="0">
                <a:latin typeface="Times New Roman" panose="02020603050405020304" pitchFamily="18" charset="0"/>
                <a:cs typeface="Times New Roman" panose="02020603050405020304" pitchFamily="18" charset="0"/>
              </a:rPr>
              <a:t>Overstocking when inventory exceeds actual demand</a:t>
            </a:r>
          </a:p>
          <a:p>
            <a:pPr marL="342900" indent="-342900">
              <a:buFont typeface="Wingdings" panose="05000000000000000000" pitchFamily="2" charset="2"/>
              <a:buChar char="§"/>
              <a:defRPr sz="2000"/>
            </a:pPr>
            <a:r>
              <a:rPr lang="en-US" dirty="0">
                <a:latin typeface="Times New Roman" panose="02020603050405020304" pitchFamily="18" charset="0"/>
                <a:cs typeface="Times New Roman" panose="02020603050405020304" pitchFamily="18" charset="0"/>
              </a:rPr>
              <a:t>Poor replenishment decisions due to limited demand visibility</a:t>
            </a:r>
          </a:p>
          <a:p>
            <a:pPr marL="342900" indent="-342900">
              <a:buFont typeface="Wingdings" panose="05000000000000000000" pitchFamily="2" charset="2"/>
              <a:buChar char="§"/>
              <a:defRPr sz="2000"/>
            </a:pPr>
            <a:r>
              <a:rPr lang="en-US" dirty="0">
                <a:latin typeface="Times New Roman" panose="02020603050405020304" pitchFamily="18" charset="0"/>
                <a:cs typeface="Times New Roman" panose="02020603050405020304" pitchFamily="18" charset="0"/>
              </a:rPr>
              <a:t>Higher operational costs caused by inefficient inventory management</a:t>
            </a:r>
          </a:p>
          <a:p>
            <a:pPr marL="342900" indent="-342900">
              <a:buFont typeface="Wingdings" panose="05000000000000000000" pitchFamily="2" charset="2"/>
              <a:buChar char="§"/>
              <a:defRPr sz="2000"/>
            </a:pPr>
            <a:r>
              <a:rPr lang="en-US" dirty="0">
                <a:latin typeface="Times New Roman" panose="02020603050405020304" pitchFamily="18" charset="0"/>
                <a:cs typeface="Times New Roman" panose="02020603050405020304" pitchFamily="18" charset="0"/>
              </a:rPr>
              <a:t>Lost sales and reduced customer satisfaction due to product unavailability</a:t>
            </a:r>
          </a:p>
          <a:p>
            <a:pPr marL="342900" indent="-342900">
              <a:buFont typeface="Wingdings" panose="05000000000000000000" pitchFamily="2" charset="2"/>
              <a:buChar char="§"/>
              <a:defRPr sz="2000"/>
            </a:pPr>
            <a:r>
              <a:rPr lang="en-US" dirty="0">
                <a:latin typeface="Times New Roman" panose="02020603050405020304" pitchFamily="18" charset="0"/>
                <a:cs typeface="Times New Roman" panose="02020603050405020304" pitchFamily="18" charset="0"/>
              </a:rPr>
              <a:t>Difficulty identifying high-risk products and categories before inventory problems occur</a:t>
            </a:r>
            <a:endParaRPr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A250814-E01D-8E2F-E802-1BF88CC7AC3D}"/>
              </a:ext>
            </a:extLst>
          </p:cNvPr>
          <p:cNvSpPr txBox="1"/>
          <p:nvPr/>
        </p:nvSpPr>
        <p:spPr>
          <a:xfrm>
            <a:off x="838200" y="4772885"/>
            <a:ext cx="10515600" cy="707886"/>
          </a:xfrm>
          <a:prstGeom prst="rect">
            <a:avLst/>
          </a:prstGeom>
          <a:noFill/>
        </p:spPr>
        <p:txBody>
          <a:bodyPr wrap="square">
            <a:spAutoFit/>
          </a:bodyPr>
          <a:lstStyle/>
          <a:p>
            <a:pPr marL="342900" indent="-342900">
              <a:buFont typeface="Wingdings" panose="05000000000000000000" pitchFamily="2" charset="2"/>
              <a:buChar char="Ø"/>
              <a:defRPr sz="2000"/>
            </a:pPr>
            <a:r>
              <a:rPr lang="en-US" dirty="0">
                <a:latin typeface="Times New Roman" panose="02020603050405020304" pitchFamily="18" charset="0"/>
                <a:cs typeface="Times New Roman" panose="02020603050405020304" pitchFamily="18" charset="0"/>
              </a:rPr>
              <a:t>Project FORESIGHT addresses these challenges by combining historical sales, product, calendar, and inventory data with Machine Learning to:</a:t>
            </a:r>
            <a:endParaRPr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7461A6B-0BED-3357-1E77-C47A7C9A0135}"/>
              </a:ext>
            </a:extLst>
          </p:cNvPr>
          <p:cNvSpPr txBox="1"/>
          <p:nvPr/>
        </p:nvSpPr>
        <p:spPr>
          <a:xfrm>
            <a:off x="838200" y="5495567"/>
            <a:ext cx="10515600" cy="707886"/>
          </a:xfrm>
          <a:prstGeom prst="rect">
            <a:avLst/>
          </a:prstGeom>
          <a:noFill/>
        </p:spPr>
        <p:txBody>
          <a:bodyPr wrap="square">
            <a:spAutoFit/>
          </a:bodyPr>
          <a:lstStyle/>
          <a:p>
            <a:pPr>
              <a:defRPr sz="2000"/>
            </a:pPr>
            <a:r>
              <a:rPr lang="en-US" dirty="0">
                <a:latin typeface="Times New Roman" panose="02020603050405020304" pitchFamily="18" charset="0"/>
                <a:cs typeface="Times New Roman" panose="02020603050405020304" pitchFamily="18" charset="0"/>
              </a:rPr>
              <a:t>Forecast future product demand, identify inventory risk, and provide data-driven replenishment and inventory management recommendations.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58" y="309949"/>
            <a:ext cx="8229600" cy="848499"/>
          </a:xfrm>
        </p:spPr>
        <p:txBody>
          <a:bodyPr>
            <a:normAutofit/>
          </a:bodyPr>
          <a:lstStyle/>
          <a:p>
            <a:pPr algn="ctr"/>
            <a:r>
              <a:rPr lang="en-US" sz="3600" b="1" dirty="0"/>
              <a:t>Project Objectives</a:t>
            </a:r>
            <a:endParaRPr sz="3600" b="1" dirty="0"/>
          </a:p>
        </p:txBody>
      </p:sp>
      <p:sp>
        <p:nvSpPr>
          <p:cNvPr id="3" name="TextBox 2"/>
          <p:cNvSpPr txBox="1"/>
          <p:nvPr/>
        </p:nvSpPr>
        <p:spPr>
          <a:xfrm>
            <a:off x="640080" y="457200"/>
            <a:ext cx="184731" cy="553998"/>
          </a:xfrm>
          <a:prstGeom prst="rect">
            <a:avLst/>
          </a:prstGeom>
          <a:noFill/>
        </p:spPr>
        <p:txBody>
          <a:bodyPr wrap="none">
            <a:spAutoFit/>
          </a:bodyPr>
          <a:lstStyle/>
          <a:p>
            <a:pPr>
              <a:defRPr sz="3000" b="1"/>
            </a:pPr>
            <a:endParaRPr lang="en-US" dirty="0"/>
          </a:p>
        </p:txBody>
      </p:sp>
      <p:sp>
        <p:nvSpPr>
          <p:cNvPr id="4" name="TextBox 3"/>
          <p:cNvSpPr txBox="1"/>
          <p:nvPr/>
        </p:nvSpPr>
        <p:spPr>
          <a:xfrm>
            <a:off x="732445" y="1494148"/>
            <a:ext cx="10515600" cy="5016758"/>
          </a:xfrm>
          <a:prstGeom prst="rect">
            <a:avLst/>
          </a:prstGeom>
          <a:noFill/>
        </p:spPr>
        <p:txBody>
          <a:bodyPr wrap="square">
            <a:spAutoFit/>
          </a:bodyPr>
          <a:lstStyle/>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Forecast Retail Demand</a:t>
            </a:r>
            <a:r>
              <a:rPr lang="en-US" dirty="0">
                <a:latin typeface="Times New Roman" panose="02020603050405020304" pitchFamily="18" charset="0"/>
                <a:cs typeface="Times New Roman" panose="02020603050405020304" pitchFamily="18" charset="0"/>
              </a:rPr>
              <a:t> using Machine Learning based on historical sales and business-related features.</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Analyze Sales &amp; Inventory Patterns</a:t>
            </a:r>
            <a:r>
              <a:rPr lang="en-US" dirty="0">
                <a:latin typeface="Times New Roman" panose="02020603050405020304" pitchFamily="18" charset="0"/>
                <a:cs typeface="Times New Roman" panose="02020603050405020304" pitchFamily="18" charset="0"/>
              </a:rPr>
              <a:t> to understand demand behavior, product performance, and inventory conditions.</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Identify Inventory Risk</a:t>
            </a:r>
            <a:r>
              <a:rPr lang="en-US" dirty="0">
                <a:latin typeface="Times New Roman" panose="02020603050405020304" pitchFamily="18" charset="0"/>
                <a:cs typeface="Times New Roman" panose="02020603050405020304" pitchFamily="18" charset="0"/>
              </a:rPr>
              <a:t> by combining predicted demand with available inventory, inventory gaps, and coverage.</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Prioritize High-Risk SKUs</a:t>
            </a:r>
            <a:r>
              <a:rPr lang="en-US" dirty="0">
                <a:latin typeface="Times New Roman" panose="02020603050405020304" pitchFamily="18" charset="0"/>
                <a:cs typeface="Times New Roman" panose="02020603050405020304" pitchFamily="18" charset="0"/>
              </a:rPr>
              <a:t> to help inventory teams identify products requiring immediate attention.</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Support Replenishment Decisions</a:t>
            </a:r>
            <a:r>
              <a:rPr lang="en-US" dirty="0">
                <a:latin typeface="Times New Roman" panose="02020603050405020304" pitchFamily="18" charset="0"/>
                <a:cs typeface="Times New Roman" panose="02020603050405020304" pitchFamily="18" charset="0"/>
              </a:rPr>
              <a:t> through demand-based inventory analysis and risk-driven recommendations.</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Evaluate Model Performance</a:t>
            </a:r>
            <a:r>
              <a:rPr lang="en-US" dirty="0">
                <a:latin typeface="Times New Roman" panose="02020603050405020304" pitchFamily="18" charset="0"/>
                <a:cs typeface="Times New Roman" panose="02020603050405020304" pitchFamily="18" charset="0"/>
              </a:rPr>
              <a:t> using standard Machine Learning metrics such as MAE, RMSE, and R².</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Generate Business Insights &amp; Recommendations</a:t>
            </a:r>
            <a:r>
              <a:rPr lang="en-US" dirty="0">
                <a:latin typeface="Times New Roman" panose="02020603050405020304" pitchFamily="18" charset="0"/>
                <a:cs typeface="Times New Roman" panose="02020603050405020304" pitchFamily="18" charset="0"/>
              </a:rPr>
              <a:t> to support data-driven inventory planning.</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Develop an Interactive Dashboard</a:t>
            </a:r>
            <a:r>
              <a:rPr lang="en-US" dirty="0">
                <a:latin typeface="Times New Roman" panose="02020603050405020304" pitchFamily="18" charset="0"/>
                <a:cs typeface="Times New Roman" panose="02020603050405020304" pitchFamily="18" charset="0"/>
              </a:rPr>
              <a:t> using Streamlit for demand, inventory, and risk monitoring.</a:t>
            </a:r>
          </a:p>
          <a:p>
            <a:pPr marL="342900" indent="-342900">
              <a:buFont typeface="Wingdings" panose="05000000000000000000" pitchFamily="2" charset="2"/>
              <a:buChar char="§"/>
              <a:defRPr sz="2000"/>
            </a:pPr>
            <a:r>
              <a:rPr lang="en-US" b="1" dirty="0">
                <a:latin typeface="Times New Roman" panose="02020603050405020304" pitchFamily="18" charset="0"/>
                <a:cs typeface="Times New Roman" panose="02020603050405020304" pitchFamily="18" charset="0"/>
              </a:rPr>
              <a:t>Provide an End-to-End Analytics Solution</a:t>
            </a:r>
            <a:r>
              <a:rPr lang="en-US" dirty="0">
                <a:latin typeface="Times New Roman" panose="02020603050405020304" pitchFamily="18" charset="0"/>
                <a:cs typeface="Times New Roman" panose="02020603050405020304" pitchFamily="18" charset="0"/>
              </a:rPr>
              <a:t> covering data preparation, forecasting, risk scoring, business analysis, and dashboard visualization</a:t>
            </a:r>
            <a:r>
              <a:rPr lang="en-US" dirty="0"/>
              <a: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537" y="274638"/>
            <a:ext cx="8818775" cy="715176"/>
          </a:xfrm>
        </p:spPr>
        <p:txBody>
          <a:bodyPr>
            <a:normAutofit/>
          </a:bodyPr>
          <a:lstStyle/>
          <a:p>
            <a:pPr algn="ctr"/>
            <a:r>
              <a:rPr lang="en-US" sz="3600" b="1" dirty="0"/>
              <a:t>Dataset &amp; Data Engineering</a:t>
            </a:r>
            <a:endParaRPr sz="3600" b="1" dirty="0"/>
          </a:p>
        </p:txBody>
      </p:sp>
      <p:sp>
        <p:nvSpPr>
          <p:cNvPr id="4" name="TextBox 3"/>
          <p:cNvSpPr txBox="1"/>
          <p:nvPr/>
        </p:nvSpPr>
        <p:spPr>
          <a:xfrm>
            <a:off x="1480008" y="1371600"/>
            <a:ext cx="9858552" cy="1477328"/>
          </a:xfrm>
          <a:prstGeom prst="rect">
            <a:avLst/>
          </a:prstGeom>
          <a:noFill/>
        </p:spPr>
        <p:txBody>
          <a:bodyPr wrap="square">
            <a:spAutoFit/>
          </a:bodyPr>
          <a:lstStyle/>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Dataset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t>73,000</a:t>
            </a:r>
            <a:r>
              <a:rPr lang="en-US" dirty="0"/>
              <a:t> final records </a:t>
            </a:r>
          </a:p>
          <a:p>
            <a:pPr marL="285750" indent="-285750">
              <a:buFont typeface="Arial" panose="020B0604020202020204" pitchFamily="34" charset="0"/>
              <a:buChar char="•"/>
            </a:pPr>
            <a:r>
              <a:rPr lang="en-US" b="1" dirty="0"/>
              <a:t>200</a:t>
            </a:r>
            <a:r>
              <a:rPr lang="en-US" dirty="0"/>
              <a:t> unique SKUs </a:t>
            </a:r>
          </a:p>
          <a:p>
            <a:pPr marL="285750" indent="-285750">
              <a:buFont typeface="Arial" panose="020B0604020202020204" pitchFamily="34" charset="0"/>
              <a:buChar char="•"/>
            </a:pPr>
            <a:r>
              <a:rPr lang="en-US" b="1" dirty="0"/>
              <a:t>24</a:t>
            </a:r>
            <a:r>
              <a:rPr lang="en-US" dirty="0"/>
              <a:t> features </a:t>
            </a:r>
          </a:p>
          <a:p>
            <a:pPr marL="285750" indent="-285750">
              <a:buFont typeface="Arial" panose="020B0604020202020204" pitchFamily="34" charset="0"/>
              <a:buChar char="•"/>
            </a:pPr>
            <a:r>
              <a:rPr lang="en-US" b="1" dirty="0"/>
              <a:t>2024</a:t>
            </a:r>
            <a:r>
              <a:rPr lang="en-US" dirty="0"/>
              <a:t> retail data</a:t>
            </a:r>
          </a:p>
        </p:txBody>
      </p:sp>
      <p:sp>
        <p:nvSpPr>
          <p:cNvPr id="5" name="TextBox 4">
            <a:extLst>
              <a:ext uri="{FF2B5EF4-FFF2-40B4-BE49-F238E27FC236}">
                <a16:creationId xmlns:a16="http://schemas.microsoft.com/office/drawing/2014/main" id="{117653A6-DA8F-CD6A-8AC5-5D35CC934981}"/>
              </a:ext>
            </a:extLst>
          </p:cNvPr>
          <p:cNvSpPr txBox="1"/>
          <p:nvPr/>
        </p:nvSpPr>
        <p:spPr>
          <a:xfrm>
            <a:off x="1480008" y="2990626"/>
            <a:ext cx="9858552" cy="1477328"/>
          </a:xfrm>
          <a:prstGeom prst="rect">
            <a:avLst/>
          </a:prstGeom>
          <a:noFill/>
        </p:spPr>
        <p:txBody>
          <a:bodyPr wrap="square">
            <a:spAutoFit/>
          </a:bodyPr>
          <a:lstStyle/>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Source Data</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Transactions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SKU / Product Master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Calendar &amp; Promotions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Inventory Snapshots</a:t>
            </a:r>
          </a:p>
        </p:txBody>
      </p:sp>
      <p:sp>
        <p:nvSpPr>
          <p:cNvPr id="6" name="TextBox 5">
            <a:extLst>
              <a:ext uri="{FF2B5EF4-FFF2-40B4-BE49-F238E27FC236}">
                <a16:creationId xmlns:a16="http://schemas.microsoft.com/office/drawing/2014/main" id="{CC26745C-4A45-EE15-DD4A-100B63CB9C4F}"/>
              </a:ext>
            </a:extLst>
          </p:cNvPr>
          <p:cNvSpPr txBox="1"/>
          <p:nvPr/>
        </p:nvSpPr>
        <p:spPr>
          <a:xfrm>
            <a:off x="1480008" y="4830046"/>
            <a:ext cx="9873791" cy="646331"/>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Engineering</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Data Collection → Cleaning → Integration → Feature Engineering → Validation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60018"/>
            <a:ext cx="8229600" cy="801514"/>
          </a:xfrm>
        </p:spPr>
        <p:txBody>
          <a:bodyPr>
            <a:normAutofit/>
          </a:bodyPr>
          <a:lstStyle/>
          <a:p>
            <a:pPr algn="ctr"/>
            <a:r>
              <a:rPr lang="en-US" b="1" dirty="0"/>
              <a:t>EDA &amp; Feature Engineering</a:t>
            </a:r>
            <a:endParaRPr b="1" dirty="0"/>
          </a:p>
        </p:txBody>
      </p:sp>
      <p:sp>
        <p:nvSpPr>
          <p:cNvPr id="4" name="TextBox 3"/>
          <p:cNvSpPr txBox="1"/>
          <p:nvPr/>
        </p:nvSpPr>
        <p:spPr>
          <a:xfrm>
            <a:off x="1150070" y="1371600"/>
            <a:ext cx="10188490" cy="1508105"/>
          </a:xfrm>
          <a:prstGeom prst="rect">
            <a:avLst/>
          </a:prstGeom>
          <a:noFill/>
        </p:spPr>
        <p:txBody>
          <a:bodyPr wrap="square">
            <a:spAutoFit/>
          </a:bodyPr>
          <a:lstStyle/>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Exploratory Data Analysis(EDA)</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Analyzed sales, revenue &amp; demand patterns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Examined SKU and category performance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Identified seasonal, monthly &amp; promotional trends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Analyzed inventory levels and risk patterns</a:t>
            </a:r>
          </a:p>
        </p:txBody>
      </p:sp>
      <p:sp>
        <p:nvSpPr>
          <p:cNvPr id="5" name="TextBox 4">
            <a:extLst>
              <a:ext uri="{FF2B5EF4-FFF2-40B4-BE49-F238E27FC236}">
                <a16:creationId xmlns:a16="http://schemas.microsoft.com/office/drawing/2014/main" id="{36B939A2-CB9C-FD57-3B21-1C40106619CD}"/>
              </a:ext>
            </a:extLst>
          </p:cNvPr>
          <p:cNvSpPr txBox="1"/>
          <p:nvPr/>
        </p:nvSpPr>
        <p:spPr>
          <a:xfrm>
            <a:off x="1150070" y="3004932"/>
            <a:ext cx="10188490" cy="1508105"/>
          </a:xfrm>
          <a:prstGeom prst="rect">
            <a:avLst/>
          </a:prstGeom>
          <a:noFill/>
        </p:spPr>
        <p:txBody>
          <a:bodyPr wrap="square">
            <a:spAutoFit/>
          </a:bodyPr>
          <a:lstStyle/>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Feature Engineering</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Created day, day-of-week, month, quarter &amp; year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Integrated pricing, promotion &amp; inventory features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Prepared 15 model-ready features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Generated the final ML-ready dataset</a:t>
            </a:r>
          </a:p>
        </p:txBody>
      </p:sp>
      <p:sp>
        <p:nvSpPr>
          <p:cNvPr id="6" name="TextBox 5">
            <a:extLst>
              <a:ext uri="{FF2B5EF4-FFF2-40B4-BE49-F238E27FC236}">
                <a16:creationId xmlns:a16="http://schemas.microsoft.com/office/drawing/2014/main" id="{6FFADA08-0A14-07DD-88DF-94A077D0BE15}"/>
              </a:ext>
            </a:extLst>
          </p:cNvPr>
          <p:cNvSpPr txBox="1"/>
          <p:nvPr/>
        </p:nvSpPr>
        <p:spPr>
          <a:xfrm>
            <a:off x="1150068" y="4723105"/>
            <a:ext cx="10188491" cy="646331"/>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Outcome: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Clean Data → Meaningful Features → ML-Ready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960" y="160020"/>
            <a:ext cx="8229600" cy="792087"/>
          </a:xfrm>
        </p:spPr>
        <p:txBody>
          <a:bodyPr>
            <a:normAutofit/>
          </a:bodyPr>
          <a:lstStyle/>
          <a:p>
            <a:pPr algn="ctr"/>
            <a:r>
              <a:rPr lang="en-US" b="1" dirty="0"/>
              <a:t>Machine Learning Model</a:t>
            </a:r>
            <a:endParaRPr b="1" dirty="0"/>
          </a:p>
        </p:txBody>
      </p:sp>
      <p:sp>
        <p:nvSpPr>
          <p:cNvPr id="4" name="TextBox 3"/>
          <p:cNvSpPr txBox="1"/>
          <p:nvPr/>
        </p:nvSpPr>
        <p:spPr>
          <a:xfrm>
            <a:off x="1310326" y="1371600"/>
            <a:ext cx="10028234" cy="2031325"/>
          </a:xfrm>
          <a:prstGeom prst="rect">
            <a:avLst/>
          </a:prstGeom>
          <a:noFill/>
        </p:spPr>
        <p:txBody>
          <a:bodyPr wrap="square">
            <a:spAutoFit/>
          </a:bodyPr>
          <a:lstStyle/>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Model: Random Forest Regressor</a:t>
            </a:r>
          </a:p>
          <a:p>
            <a:pPr marL="285750"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15 model input features </a:t>
            </a:r>
          </a:p>
          <a:p>
            <a:pPr marL="285750"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50 estimators </a:t>
            </a:r>
          </a:p>
          <a:p>
            <a:pPr marL="285750"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80/20 time-based train-test split </a:t>
            </a:r>
          </a:p>
          <a:p>
            <a:pPr marL="285750"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58,400 training records </a:t>
            </a:r>
          </a:p>
          <a:p>
            <a:pPr marL="285750"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14,600 testing records </a:t>
            </a:r>
          </a:p>
          <a:p>
            <a:pPr marL="285750"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Predicts retail demand (Units Sold)</a:t>
            </a:r>
          </a:p>
        </p:txBody>
      </p:sp>
      <p:sp>
        <p:nvSpPr>
          <p:cNvPr id="5" name="TextBox 4">
            <a:extLst>
              <a:ext uri="{FF2B5EF4-FFF2-40B4-BE49-F238E27FC236}">
                <a16:creationId xmlns:a16="http://schemas.microsoft.com/office/drawing/2014/main" id="{669975E8-9486-BD76-06FD-1CA7EE79BBB0}"/>
              </a:ext>
            </a:extLst>
          </p:cNvPr>
          <p:cNvSpPr txBox="1"/>
          <p:nvPr/>
        </p:nvSpPr>
        <p:spPr>
          <a:xfrm>
            <a:off x="1310324" y="3722557"/>
            <a:ext cx="10028234" cy="646331"/>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Key Inputs: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Price • Promotion • Calendar • Inventory • Replenishment Features</a:t>
            </a:r>
          </a:p>
        </p:txBody>
      </p:sp>
      <p:sp>
        <p:nvSpPr>
          <p:cNvPr id="6" name="TextBox 5">
            <a:extLst>
              <a:ext uri="{FF2B5EF4-FFF2-40B4-BE49-F238E27FC236}">
                <a16:creationId xmlns:a16="http://schemas.microsoft.com/office/drawing/2014/main" id="{2F72D63B-33A0-2463-04A9-A27818D1C41E}"/>
              </a:ext>
            </a:extLst>
          </p:cNvPr>
          <p:cNvSpPr txBox="1"/>
          <p:nvPr/>
        </p:nvSpPr>
        <p:spPr>
          <a:xfrm>
            <a:off x="1310324" y="4840069"/>
            <a:ext cx="10028235" cy="646331"/>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Output: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Predicted Demand → Inventory Risk Analysis → Business Decisions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960" y="160020"/>
            <a:ext cx="8229600" cy="744953"/>
          </a:xfrm>
        </p:spPr>
        <p:txBody>
          <a:bodyPr>
            <a:normAutofit/>
          </a:bodyPr>
          <a:lstStyle/>
          <a:p>
            <a:pPr algn="ctr"/>
            <a:r>
              <a:rPr lang="en-US" b="1" dirty="0"/>
              <a:t>Model Evaluation</a:t>
            </a:r>
            <a:endParaRPr b="1" dirty="0"/>
          </a:p>
        </p:txBody>
      </p:sp>
      <p:sp>
        <p:nvSpPr>
          <p:cNvPr id="4" name="TextBox 3"/>
          <p:cNvSpPr txBox="1"/>
          <p:nvPr/>
        </p:nvSpPr>
        <p:spPr>
          <a:xfrm>
            <a:off x="1240146" y="1277332"/>
            <a:ext cx="10098413" cy="400110"/>
          </a:xfrm>
          <a:prstGeom prst="rect">
            <a:avLst/>
          </a:prstGeom>
          <a:noFill/>
        </p:spPr>
        <p:txBody>
          <a:bodyPr wrap="square">
            <a:spAutoFit/>
          </a:bodyPr>
          <a:lstStyle/>
          <a:p>
            <a:pPr marL="342900" indent="-342900">
              <a:buFont typeface="Wingdings" panose="05000000000000000000" pitchFamily="2" charset="2"/>
              <a:buChar char="q"/>
              <a:defRPr sz="2000"/>
            </a:pPr>
            <a:r>
              <a:rPr lang="en-US" dirty="0">
                <a:latin typeface="Times New Roman" panose="02020603050405020304" pitchFamily="18" charset="0"/>
                <a:cs typeface="Times New Roman" panose="02020603050405020304" pitchFamily="18" charset="0"/>
              </a:rPr>
              <a:t>Final Model Performance:</a:t>
            </a: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62FE63F-A891-4B0C-9A1F-781E6ECB8AC5}"/>
              </a:ext>
            </a:extLst>
          </p:cNvPr>
          <p:cNvSpPr txBox="1"/>
          <p:nvPr/>
        </p:nvSpPr>
        <p:spPr>
          <a:xfrm>
            <a:off x="1240146" y="3566708"/>
            <a:ext cx="10098413" cy="1477328"/>
          </a:xfrm>
          <a:prstGeom prst="rect">
            <a:avLst/>
          </a:prstGeom>
          <a:noFill/>
        </p:spPr>
        <p:txBody>
          <a:bodyPr wrap="square">
            <a:spAutoFit/>
          </a:bodyPr>
          <a:lstStyle/>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Validation Approach:</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Time-based </a:t>
            </a:r>
            <a:r>
              <a:rPr lang="en-US" b="1" dirty="0">
                <a:latin typeface="Times New Roman" panose="02020603050405020304" pitchFamily="18" charset="0"/>
                <a:cs typeface="Times New Roman" panose="02020603050405020304" pitchFamily="18" charset="0"/>
              </a:rPr>
              <a:t>80/20</a:t>
            </a:r>
            <a:r>
              <a:rPr lang="en-US" dirty="0">
                <a:latin typeface="Times New Roman" panose="02020603050405020304" pitchFamily="18" charset="0"/>
                <a:cs typeface="Times New Roman" panose="02020603050405020304" pitchFamily="18" charset="0"/>
              </a:rPr>
              <a:t> train-test split </a:t>
            </a:r>
          </a:p>
          <a:p>
            <a:pPr marL="285750"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58,400</a:t>
            </a:r>
            <a:r>
              <a:rPr lang="en-US" dirty="0">
                <a:latin typeface="Times New Roman" panose="02020603050405020304" pitchFamily="18" charset="0"/>
                <a:cs typeface="Times New Roman" panose="02020603050405020304" pitchFamily="18" charset="0"/>
              </a:rPr>
              <a:t> training records </a:t>
            </a:r>
          </a:p>
          <a:p>
            <a:pPr marL="285750"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14,600</a:t>
            </a:r>
            <a:r>
              <a:rPr lang="en-US" dirty="0">
                <a:latin typeface="Times New Roman" panose="02020603050405020304" pitchFamily="18" charset="0"/>
                <a:cs typeface="Times New Roman" panose="02020603050405020304" pitchFamily="18" charset="0"/>
              </a:rPr>
              <a:t> testing records </a:t>
            </a: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Final model validated on unseen test data</a:t>
            </a:r>
          </a:p>
        </p:txBody>
      </p:sp>
      <p:graphicFrame>
        <p:nvGraphicFramePr>
          <p:cNvPr id="7" name="Table 6">
            <a:extLst>
              <a:ext uri="{FF2B5EF4-FFF2-40B4-BE49-F238E27FC236}">
                <a16:creationId xmlns:a16="http://schemas.microsoft.com/office/drawing/2014/main" id="{F2C5E149-4201-1D3A-3A84-43EF344DFD1B}"/>
              </a:ext>
            </a:extLst>
          </p:cNvPr>
          <p:cNvGraphicFramePr>
            <a:graphicFrameLocks noGrp="1"/>
          </p:cNvGraphicFramePr>
          <p:nvPr>
            <p:extLst>
              <p:ext uri="{D42A27DB-BD31-4B8C-83A1-F6EECF244321}">
                <p14:modId xmlns:p14="http://schemas.microsoft.com/office/powerpoint/2010/main" val="2442530235"/>
              </p:ext>
            </p:extLst>
          </p:nvPr>
        </p:nvGraphicFramePr>
        <p:xfrm>
          <a:off x="1654928" y="1807932"/>
          <a:ext cx="8128000" cy="1483360"/>
        </p:xfrm>
        <a:graphic>
          <a:graphicData uri="http://schemas.openxmlformats.org/drawingml/2006/table">
            <a:tbl>
              <a:tblPr firstRow="1" bandRow="1">
                <a:tableStyleId>{616DA210-FB5B-4158-B5E0-FEB733F419BA}</a:tableStyleId>
              </a:tblPr>
              <a:tblGrid>
                <a:gridCol w="4064000">
                  <a:extLst>
                    <a:ext uri="{9D8B030D-6E8A-4147-A177-3AD203B41FA5}">
                      <a16:colId xmlns:a16="http://schemas.microsoft.com/office/drawing/2014/main" val="3102169720"/>
                    </a:ext>
                  </a:extLst>
                </a:gridCol>
                <a:gridCol w="4064000">
                  <a:extLst>
                    <a:ext uri="{9D8B030D-6E8A-4147-A177-3AD203B41FA5}">
                      <a16:colId xmlns:a16="http://schemas.microsoft.com/office/drawing/2014/main" val="2608689736"/>
                    </a:ext>
                  </a:extLst>
                </a:gridCol>
              </a:tblGrid>
              <a:tr h="370840">
                <a:tc>
                  <a:txBody>
                    <a:bodyPr/>
                    <a:lstStyle/>
                    <a:p>
                      <a:pPr algn="ctr">
                        <a:buNone/>
                      </a:pPr>
                      <a:r>
                        <a:rPr lang="en-US" dirty="0"/>
                        <a:t>Metric</a:t>
                      </a:r>
                    </a:p>
                  </a:txBody>
                  <a:tcPr anchor="ctr"/>
                </a:tc>
                <a:tc>
                  <a:txBody>
                    <a:bodyPr/>
                    <a:lstStyle/>
                    <a:p>
                      <a:pPr algn="ctr"/>
                      <a:r>
                        <a:rPr lang="en-US" dirty="0"/>
                        <a:t>Score</a:t>
                      </a:r>
                    </a:p>
                  </a:txBody>
                  <a:tcPr/>
                </a:tc>
                <a:extLst>
                  <a:ext uri="{0D108BD9-81ED-4DB2-BD59-A6C34878D82A}">
                    <a16:rowId xmlns:a16="http://schemas.microsoft.com/office/drawing/2014/main" val="3171306223"/>
                  </a:ext>
                </a:extLst>
              </a:tr>
              <a:tr h="370840">
                <a:tc>
                  <a:txBody>
                    <a:bodyPr/>
                    <a:lstStyle/>
                    <a:p>
                      <a:pPr algn="ctr"/>
                      <a:r>
                        <a:rPr lang="en-US" dirty="0"/>
                        <a:t>MAE</a:t>
                      </a:r>
                    </a:p>
                  </a:txBody>
                  <a:tcPr/>
                </a:tc>
                <a:tc>
                  <a:txBody>
                    <a:bodyPr/>
                    <a:lstStyle/>
                    <a:p>
                      <a:pPr algn="ctr"/>
                      <a:r>
                        <a:rPr lang="en-US" dirty="0"/>
                        <a:t>3.2449</a:t>
                      </a:r>
                    </a:p>
                  </a:txBody>
                  <a:tcPr/>
                </a:tc>
                <a:extLst>
                  <a:ext uri="{0D108BD9-81ED-4DB2-BD59-A6C34878D82A}">
                    <a16:rowId xmlns:a16="http://schemas.microsoft.com/office/drawing/2014/main" val="2450361282"/>
                  </a:ext>
                </a:extLst>
              </a:tr>
              <a:tr h="370840">
                <a:tc>
                  <a:txBody>
                    <a:bodyPr/>
                    <a:lstStyle/>
                    <a:p>
                      <a:pPr algn="ctr"/>
                      <a:r>
                        <a:rPr lang="en-US" dirty="0"/>
                        <a:t>RMSE</a:t>
                      </a:r>
                    </a:p>
                  </a:txBody>
                  <a:tcPr/>
                </a:tc>
                <a:tc>
                  <a:txBody>
                    <a:bodyPr/>
                    <a:lstStyle/>
                    <a:p>
                      <a:pPr algn="ctr"/>
                      <a:r>
                        <a:rPr lang="en-US" dirty="0"/>
                        <a:t>4.0551</a:t>
                      </a:r>
                    </a:p>
                  </a:txBody>
                  <a:tcPr/>
                </a:tc>
                <a:extLst>
                  <a:ext uri="{0D108BD9-81ED-4DB2-BD59-A6C34878D82A}">
                    <a16:rowId xmlns:a16="http://schemas.microsoft.com/office/drawing/2014/main" val="3284798851"/>
                  </a:ext>
                </a:extLst>
              </a:tr>
              <a:tr h="370840">
                <a:tc>
                  <a:txBody>
                    <a:bodyPr/>
                    <a:lstStyle/>
                    <a:p>
                      <a:pPr algn="ctr"/>
                      <a:r>
                        <a:rPr lang="en-US" dirty="0"/>
                        <a:t>R² Score</a:t>
                      </a:r>
                    </a:p>
                  </a:txBody>
                  <a:tcPr/>
                </a:tc>
                <a:tc>
                  <a:txBody>
                    <a:bodyPr/>
                    <a:lstStyle/>
                    <a:p>
                      <a:pPr algn="ctr"/>
                      <a:r>
                        <a:rPr lang="en-US" dirty="0"/>
                        <a:t>0.0946</a:t>
                      </a:r>
                    </a:p>
                  </a:txBody>
                  <a:tcPr/>
                </a:tc>
                <a:extLst>
                  <a:ext uri="{0D108BD9-81ED-4DB2-BD59-A6C34878D82A}">
                    <a16:rowId xmlns:a16="http://schemas.microsoft.com/office/drawing/2014/main" val="2744380153"/>
                  </a:ext>
                </a:extLst>
              </a:tr>
            </a:tbl>
          </a:graphicData>
        </a:graphic>
      </p:graphicFrame>
      <p:sp>
        <p:nvSpPr>
          <p:cNvPr id="9" name="TextBox 8">
            <a:extLst>
              <a:ext uri="{FF2B5EF4-FFF2-40B4-BE49-F238E27FC236}">
                <a16:creationId xmlns:a16="http://schemas.microsoft.com/office/drawing/2014/main" id="{5C583CBD-E43F-BB6E-DB3C-AFAE91FFE4A2}"/>
              </a:ext>
            </a:extLst>
          </p:cNvPr>
          <p:cNvSpPr txBox="1"/>
          <p:nvPr/>
        </p:nvSpPr>
        <p:spPr>
          <a:xfrm>
            <a:off x="1240147" y="5580668"/>
            <a:ext cx="10198493" cy="677108"/>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Outcome: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Validated Demand Forecasting Model → Ready for Risk Analysis &amp; Business Use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60020"/>
            <a:ext cx="8229600" cy="858075"/>
          </a:xfrm>
        </p:spPr>
        <p:txBody>
          <a:bodyPr>
            <a:normAutofit/>
          </a:bodyPr>
          <a:lstStyle/>
          <a:p>
            <a:pPr algn="ctr"/>
            <a:r>
              <a:rPr lang="en-US" b="1" dirty="0"/>
              <a:t>Inventory Risk Scoring</a:t>
            </a:r>
            <a:endParaRPr b="1" dirty="0"/>
          </a:p>
        </p:txBody>
      </p:sp>
      <p:sp>
        <p:nvSpPr>
          <p:cNvPr id="4" name="TextBox 3"/>
          <p:cNvSpPr txBox="1"/>
          <p:nvPr/>
        </p:nvSpPr>
        <p:spPr>
          <a:xfrm>
            <a:off x="822960" y="1371600"/>
            <a:ext cx="10515600" cy="1508105"/>
          </a:xfrm>
          <a:prstGeom prst="rect">
            <a:avLst/>
          </a:prstGeom>
          <a:noFill/>
        </p:spPr>
        <p:txBody>
          <a:bodyPr wrap="square">
            <a:spAutoFit/>
          </a:bodyPr>
          <a:lstStyle/>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Risk Assessment:</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73,000</a:t>
            </a:r>
            <a:r>
              <a:rPr lang="en-US" dirty="0">
                <a:latin typeface="Times New Roman" panose="02020603050405020304" pitchFamily="18" charset="0"/>
                <a:cs typeface="Times New Roman" panose="02020603050405020304" pitchFamily="18" charset="0"/>
              </a:rPr>
              <a:t> records evaluated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63,400 (86.85%)</a:t>
            </a:r>
            <a:r>
              <a:rPr lang="en-US" dirty="0">
                <a:latin typeface="Times New Roman" panose="02020603050405020304" pitchFamily="18" charset="0"/>
                <a:cs typeface="Times New Roman" panose="02020603050405020304" pitchFamily="18" charset="0"/>
              </a:rPr>
              <a:t> → 🔴 High Risk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51 (0.07%)</a:t>
            </a:r>
            <a:r>
              <a:rPr lang="en-US" dirty="0">
                <a:latin typeface="Times New Roman" panose="02020603050405020304" pitchFamily="18" charset="0"/>
                <a:cs typeface="Times New Roman" panose="02020603050405020304" pitchFamily="18" charset="0"/>
              </a:rPr>
              <a:t> → 🟠 Medium Risk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9,549 (13.08%)</a:t>
            </a:r>
            <a:r>
              <a:rPr lang="en-US" dirty="0">
                <a:latin typeface="Times New Roman" panose="02020603050405020304" pitchFamily="18" charset="0"/>
                <a:cs typeface="Times New Roman" panose="02020603050405020304" pitchFamily="18" charset="0"/>
              </a:rPr>
              <a:t> → 🟢 Low Risk</a:t>
            </a:r>
          </a:p>
        </p:txBody>
      </p:sp>
      <p:sp>
        <p:nvSpPr>
          <p:cNvPr id="5" name="TextBox 4">
            <a:extLst>
              <a:ext uri="{FF2B5EF4-FFF2-40B4-BE49-F238E27FC236}">
                <a16:creationId xmlns:a16="http://schemas.microsoft.com/office/drawing/2014/main" id="{78C3946D-96DF-69D7-A179-0F3C36142D6F}"/>
              </a:ext>
            </a:extLst>
          </p:cNvPr>
          <p:cNvSpPr txBox="1"/>
          <p:nvPr/>
        </p:nvSpPr>
        <p:spPr>
          <a:xfrm>
            <a:off x="822960" y="3001328"/>
            <a:ext cx="10515600" cy="1785104"/>
          </a:xfrm>
          <a:prstGeom prst="rect">
            <a:avLst/>
          </a:prstGeom>
          <a:noFill/>
        </p:spPr>
        <p:txBody>
          <a:bodyPr wrap="square">
            <a:spAutoFit/>
          </a:bodyPr>
          <a:lstStyle/>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Risk Factors:</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Predicted Demand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On-Hand Inventory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Inventory Gap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Inventory Coverage</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Risk Score: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0–100</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136234A-AEFC-B00C-05D1-9AC9A4F82D8B}"/>
              </a:ext>
            </a:extLst>
          </p:cNvPr>
          <p:cNvSpPr txBox="1"/>
          <p:nvPr/>
        </p:nvSpPr>
        <p:spPr>
          <a:xfrm>
            <a:off x="853440" y="4942876"/>
            <a:ext cx="10515600" cy="646331"/>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Outcome: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Demand Forecast → Risk Score → Risk Level → Replenishment Priority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84471"/>
            <a:ext cx="8229600" cy="829794"/>
          </a:xfrm>
        </p:spPr>
        <p:txBody>
          <a:bodyPr>
            <a:normAutofit/>
          </a:bodyPr>
          <a:lstStyle/>
          <a:p>
            <a:pPr algn="ctr"/>
            <a:r>
              <a:rPr lang="en-US" b="1" dirty="0"/>
              <a:t>Business Insights</a:t>
            </a:r>
            <a:endParaRPr b="1" dirty="0"/>
          </a:p>
        </p:txBody>
      </p:sp>
      <p:sp>
        <p:nvSpPr>
          <p:cNvPr id="4" name="TextBox 3"/>
          <p:cNvSpPr txBox="1"/>
          <p:nvPr/>
        </p:nvSpPr>
        <p:spPr>
          <a:xfrm>
            <a:off x="1271833" y="1366897"/>
            <a:ext cx="10515600" cy="2062103"/>
          </a:xfrm>
          <a:prstGeom prst="rect">
            <a:avLst/>
          </a:prstGeom>
          <a:noFill/>
        </p:spPr>
        <p:txBody>
          <a:bodyPr wrap="square">
            <a:spAutoFit/>
          </a:bodyPr>
          <a:lstStyle/>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Business Insights:</a:t>
            </a: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86.85% of evaluated records are classified as High Risk </a:t>
            </a: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High-risk records show zero on-hand inventory and zero inventory coverage </a:t>
            </a: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All 4 categories — Appliances, Decor, Furniture &amp; Kitchen — show substantial risk exposure </a:t>
            </a: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Furniture has the highest category-level average risk score: 88.24 </a:t>
            </a: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Promotional periods require stronger inventory preparation </a:t>
            </a:r>
          </a:p>
          <a:p>
            <a:pPr marL="742950" lvl="1" indent="-28575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Risk scoring enables SKU-level inventory prioritization</a:t>
            </a:r>
          </a:p>
        </p:txBody>
      </p:sp>
      <p:sp>
        <p:nvSpPr>
          <p:cNvPr id="5" name="TextBox 4">
            <a:extLst>
              <a:ext uri="{FF2B5EF4-FFF2-40B4-BE49-F238E27FC236}">
                <a16:creationId xmlns:a16="http://schemas.microsoft.com/office/drawing/2014/main" id="{31EBFA83-5594-517C-6C97-B6C251BCBB5B}"/>
              </a:ext>
            </a:extLst>
          </p:cNvPr>
          <p:cNvSpPr txBox="1"/>
          <p:nvPr/>
        </p:nvSpPr>
        <p:spPr>
          <a:xfrm>
            <a:off x="1271833" y="4096529"/>
            <a:ext cx="10515600" cy="646331"/>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Key Insight: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High demand + Low/Zero inventory → Higher Stockout Risk → Immediate Replenishment Attention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6614" y="186163"/>
            <a:ext cx="8229600" cy="933489"/>
          </a:xfrm>
        </p:spPr>
        <p:txBody>
          <a:bodyPr>
            <a:normAutofit/>
          </a:bodyPr>
          <a:lstStyle/>
          <a:p>
            <a:pPr algn="ctr"/>
            <a:r>
              <a:rPr lang="en-US" b="1" dirty="0"/>
              <a:t>Business Recommendations</a:t>
            </a:r>
            <a:endParaRPr b="1" dirty="0"/>
          </a:p>
        </p:txBody>
      </p:sp>
      <p:sp>
        <p:nvSpPr>
          <p:cNvPr id="4" name="TextBox 3"/>
          <p:cNvSpPr txBox="1"/>
          <p:nvPr/>
        </p:nvSpPr>
        <p:spPr>
          <a:xfrm>
            <a:off x="1068057" y="1371600"/>
            <a:ext cx="10515600" cy="2339102"/>
          </a:xfrm>
          <a:prstGeom prst="rect">
            <a:avLst/>
          </a:prstGeom>
          <a:noFill/>
        </p:spPr>
        <p:txBody>
          <a:bodyPr wrap="square">
            <a:spAutoFit/>
          </a:bodyPr>
          <a:lstStyle/>
          <a:p>
            <a:pPr marL="342900" indent="-3429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Business Recommendations:</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Prioritize High-Risk SKUs for immediate inventory review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Replenish Zero-Coverage Items to reduce stockout exposure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Use Predicted Demand for data-driven inventory planning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Review Reorder Points &amp; Purchase Orders regularly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Monitor All Categories for changing inventory risk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Prepare Inventory Before Promotions and high-risk periods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Continuously Monitor Risk Scores through the dashboard</a:t>
            </a:r>
          </a:p>
        </p:txBody>
      </p:sp>
      <p:sp>
        <p:nvSpPr>
          <p:cNvPr id="5" name="TextBox 4">
            <a:extLst>
              <a:ext uri="{FF2B5EF4-FFF2-40B4-BE49-F238E27FC236}">
                <a16:creationId xmlns:a16="http://schemas.microsoft.com/office/drawing/2014/main" id="{1C57A6F8-4B81-64A7-CD0C-C77A91BA5D91}"/>
              </a:ext>
            </a:extLst>
          </p:cNvPr>
          <p:cNvSpPr txBox="1"/>
          <p:nvPr/>
        </p:nvSpPr>
        <p:spPr>
          <a:xfrm>
            <a:off x="1068057" y="4214597"/>
            <a:ext cx="10515600" cy="646331"/>
          </a:xfrm>
          <a:prstGeom prst="rect">
            <a:avLst/>
          </a:prstGeom>
          <a:noFill/>
        </p:spPr>
        <p:txBody>
          <a:bodyPr wrap="square">
            <a:spAutoFit/>
          </a:bodyPr>
          <a:lstStyle/>
          <a:p>
            <a:pPr marL="285750" indent="-285750">
              <a:buFont typeface="Wingdings" panose="05000000000000000000" pitchFamily="2" charset="2"/>
              <a:buChar char="Ø"/>
            </a:pPr>
            <a:r>
              <a:rPr lang="en-US" b="1" dirty="0"/>
              <a:t>Business Goal:</a:t>
            </a:r>
            <a:br>
              <a:rPr lang="en-US" dirty="0"/>
            </a:br>
            <a:r>
              <a:rPr lang="en-US" dirty="0"/>
              <a:t>Reduce Stockouts → Improve Inventory Availability → Support Data-Driven Replenishment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61678"/>
            <a:ext cx="8229600" cy="829793"/>
          </a:xfrm>
        </p:spPr>
        <p:txBody>
          <a:bodyPr>
            <a:normAutofit/>
          </a:bodyPr>
          <a:lstStyle/>
          <a:p>
            <a:pPr algn="ctr"/>
            <a:r>
              <a:rPr lang="en-US" b="1" dirty="0"/>
              <a:t>Streamlit Dashboard</a:t>
            </a:r>
            <a:endParaRPr b="1" dirty="0"/>
          </a:p>
        </p:txBody>
      </p:sp>
      <p:sp>
        <p:nvSpPr>
          <p:cNvPr id="4" name="TextBox 3"/>
          <p:cNvSpPr txBox="1"/>
          <p:nvPr/>
        </p:nvSpPr>
        <p:spPr>
          <a:xfrm>
            <a:off x="1583702" y="1665268"/>
            <a:ext cx="9754857" cy="2062103"/>
          </a:xfrm>
          <a:prstGeom prst="rect">
            <a:avLst/>
          </a:prstGeom>
          <a:noFill/>
        </p:spPr>
        <p:txBody>
          <a:bodyPr wrap="square">
            <a:spAutoFit/>
          </a:bodyPr>
          <a:lstStyle/>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Interactive Retail Intelligence Dashboard:</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Demand Forecasting</a:t>
            </a:r>
            <a:r>
              <a:rPr lang="en-US" dirty="0">
                <a:latin typeface="Times New Roman" panose="02020603050405020304" pitchFamily="18" charset="0"/>
                <a:cs typeface="Times New Roman" panose="02020603050405020304" pitchFamily="18" charset="0"/>
              </a:rPr>
              <a:t> — Actual vs Predicted Demand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Inventory Monitoring</a:t>
            </a:r>
            <a:r>
              <a:rPr lang="en-US" dirty="0">
                <a:latin typeface="Times New Roman" panose="02020603050405020304" pitchFamily="18" charset="0"/>
                <a:cs typeface="Times New Roman" panose="02020603050405020304" pitchFamily="18" charset="0"/>
              </a:rPr>
              <a:t> — On-Hand Inventory &amp; Inventory Gap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Inventory Coverage</a:t>
            </a:r>
            <a:r>
              <a:rPr lang="en-US" dirty="0">
                <a:latin typeface="Times New Roman" panose="02020603050405020304" pitchFamily="18" charset="0"/>
                <a:cs typeface="Times New Roman" panose="02020603050405020304" pitchFamily="18" charset="0"/>
              </a:rPr>
              <a:t> — Identify low/zero coverage items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Risk Analysis</a:t>
            </a:r>
            <a:r>
              <a:rPr lang="en-US" dirty="0">
                <a:latin typeface="Times New Roman" panose="02020603050405020304" pitchFamily="18" charset="0"/>
                <a:cs typeface="Times New Roman" panose="02020603050405020304" pitchFamily="18" charset="0"/>
              </a:rPr>
              <a:t> — Risk Score &amp; Risk Level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SKU-Level Insights</a:t>
            </a:r>
            <a:r>
              <a:rPr lang="en-US" dirty="0">
                <a:latin typeface="Times New Roman" panose="02020603050405020304" pitchFamily="18" charset="0"/>
                <a:cs typeface="Times New Roman" panose="02020603050405020304" pitchFamily="18" charset="0"/>
              </a:rPr>
              <a:t> — Identify high-priority products </a:t>
            </a:r>
          </a:p>
          <a:p>
            <a:pPr marL="742950" lvl="1" indent="-285750">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Business Analytics</a:t>
            </a:r>
            <a:r>
              <a:rPr lang="en-US" dirty="0">
                <a:latin typeface="Times New Roman" panose="02020603050405020304" pitchFamily="18" charset="0"/>
                <a:cs typeface="Times New Roman" panose="02020603050405020304" pitchFamily="18" charset="0"/>
              </a:rPr>
              <a:t> — Support replenishment decisions</a:t>
            </a:r>
          </a:p>
        </p:txBody>
      </p:sp>
      <p:sp>
        <p:nvSpPr>
          <p:cNvPr id="5" name="TextBox 4">
            <a:extLst>
              <a:ext uri="{FF2B5EF4-FFF2-40B4-BE49-F238E27FC236}">
                <a16:creationId xmlns:a16="http://schemas.microsoft.com/office/drawing/2014/main" id="{2E3E8CF4-9BDA-C49F-A670-D4D565F84084}"/>
              </a:ext>
            </a:extLst>
          </p:cNvPr>
          <p:cNvSpPr txBox="1"/>
          <p:nvPr/>
        </p:nvSpPr>
        <p:spPr>
          <a:xfrm>
            <a:off x="1676400" y="4294417"/>
            <a:ext cx="10515600" cy="369332"/>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Technology:</a:t>
            </a:r>
            <a:r>
              <a:rPr lang="en-US" dirty="0">
                <a:latin typeface="Times New Roman" panose="02020603050405020304" pitchFamily="18" charset="0"/>
                <a:cs typeface="Times New Roman" panose="02020603050405020304" pitchFamily="18" charset="0"/>
              </a:rPr>
              <a:t> Python • Streamlit • Pandas • </a:t>
            </a:r>
            <a:r>
              <a:rPr lang="en-US" dirty="0" err="1">
                <a:latin typeface="Times New Roman" panose="02020603050405020304" pitchFamily="18" charset="0"/>
                <a:cs typeface="Times New Roman" panose="02020603050405020304" pitchFamily="18" charset="0"/>
              </a:rPr>
              <a:t>Plotly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60020"/>
            <a:ext cx="8229600" cy="942916"/>
          </a:xfrm>
        </p:spPr>
        <p:txBody>
          <a:bodyPr>
            <a:normAutofit/>
          </a:bodyPr>
          <a:lstStyle/>
          <a:p>
            <a:pPr algn="ctr"/>
            <a:r>
              <a:rPr lang="en-US" b="1" dirty="0"/>
              <a:t>Final Validation</a:t>
            </a:r>
            <a:endParaRPr b="1" dirty="0"/>
          </a:p>
        </p:txBody>
      </p:sp>
      <p:sp>
        <p:nvSpPr>
          <p:cNvPr id="4" name="TextBox 3"/>
          <p:cNvSpPr txBox="1"/>
          <p:nvPr/>
        </p:nvSpPr>
        <p:spPr>
          <a:xfrm>
            <a:off x="1369715" y="1371600"/>
            <a:ext cx="10515600" cy="3231654"/>
          </a:xfrm>
          <a:prstGeom prst="rect">
            <a:avLst/>
          </a:prstGeom>
          <a:noFill/>
        </p:spPr>
        <p:txBody>
          <a:bodyPr wrap="square">
            <a:spAutoFit/>
          </a:bodyPr>
          <a:lstStyle/>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Project Validation Status:</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Final Data Validation — PASSED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Final ML Model Validation — PASSED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End-to-End Project Testing — PASSED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Risk Scoring Validation — PASSED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Prediction Coverage Validation — PASSED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Output Consistency Validation — PASSED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Business Insights — COMPLETED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Business Recommendations — COMPLETED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Dashboard Runtime Test — PASSED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Required Project Files — VERIFIED</a:t>
            </a:r>
          </a:p>
        </p:txBody>
      </p:sp>
      <p:sp>
        <p:nvSpPr>
          <p:cNvPr id="5" name="TextBox 4">
            <a:extLst>
              <a:ext uri="{FF2B5EF4-FFF2-40B4-BE49-F238E27FC236}">
                <a16:creationId xmlns:a16="http://schemas.microsoft.com/office/drawing/2014/main" id="{774AB200-F161-8EB7-6550-A603875FE871}"/>
              </a:ext>
            </a:extLst>
          </p:cNvPr>
          <p:cNvSpPr txBox="1"/>
          <p:nvPr/>
        </p:nvSpPr>
        <p:spPr>
          <a:xfrm>
            <a:off x="1369714" y="4865803"/>
            <a:ext cx="9984085" cy="954107"/>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Final Result: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CORE PROJECT PIPELINE — COMPLETED &amp; VALIDATED</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73,000 records | 200 SKUs | 0 missing final-data values | 0 duplicates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60020"/>
            <a:ext cx="8229600" cy="801514"/>
          </a:xfrm>
        </p:spPr>
        <p:txBody>
          <a:bodyPr>
            <a:normAutofit/>
          </a:bodyPr>
          <a:lstStyle/>
          <a:p>
            <a:pPr algn="ctr"/>
            <a:r>
              <a:rPr lang="en-US" b="1" dirty="0"/>
              <a:t>Final Project Outputs</a:t>
            </a:r>
            <a:endParaRPr b="1" dirty="0"/>
          </a:p>
        </p:txBody>
      </p:sp>
      <p:sp>
        <p:nvSpPr>
          <p:cNvPr id="4" name="TextBox 3"/>
          <p:cNvSpPr txBox="1"/>
          <p:nvPr/>
        </p:nvSpPr>
        <p:spPr>
          <a:xfrm>
            <a:off x="1332008" y="1312682"/>
            <a:ext cx="10515600" cy="2616101"/>
          </a:xfrm>
          <a:prstGeom prst="rect">
            <a:avLst/>
          </a:prstGeom>
          <a:noFill/>
        </p:spPr>
        <p:txBody>
          <a:bodyPr wrap="square">
            <a:spAutoFit/>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Core Deliverables:</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models/</a:t>
            </a:r>
            <a:r>
              <a:rPr lang="en-US" dirty="0" err="1">
                <a:latin typeface="Times New Roman" panose="02020603050405020304" pitchFamily="18" charset="0"/>
                <a:cs typeface="Times New Roman" panose="02020603050405020304" pitchFamily="18" charset="0"/>
              </a:rPr>
              <a:t>final_random_forest.pkl</a:t>
            </a:r>
            <a:r>
              <a:rPr lang="en-US" dirty="0">
                <a:latin typeface="Times New Roman" panose="02020603050405020304" pitchFamily="18" charset="0"/>
                <a:cs typeface="Times New Roman" panose="02020603050405020304" pitchFamily="18" charset="0"/>
              </a:rPr>
              <a:t>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reports/risk_scoring.csv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reports/final_model_validation_metrics.csv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reports/Final_Project_Report.docx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reports/Project_FORESIGHT_Final_Presentation.pptx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dashboard/app.py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README.md </a:t>
            </a:r>
          </a:p>
          <a:p>
            <a:pPr marL="742950" lvl="1"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requirements.txt</a:t>
            </a:r>
          </a:p>
        </p:txBody>
      </p:sp>
      <p:sp>
        <p:nvSpPr>
          <p:cNvPr id="5" name="TextBox 4">
            <a:extLst>
              <a:ext uri="{FF2B5EF4-FFF2-40B4-BE49-F238E27FC236}">
                <a16:creationId xmlns:a16="http://schemas.microsoft.com/office/drawing/2014/main" id="{160ACDF5-4763-E639-D758-49950132D64C}"/>
              </a:ext>
            </a:extLst>
          </p:cNvPr>
          <p:cNvSpPr txBox="1"/>
          <p:nvPr/>
        </p:nvSpPr>
        <p:spPr>
          <a:xfrm>
            <a:off x="1332008" y="4529303"/>
            <a:ext cx="10158952" cy="646331"/>
          </a:xfrm>
          <a:prstGeom prst="rect">
            <a:avLst/>
          </a:prstGeom>
          <a:noFill/>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Final Solution: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Demand Forecasting → Risk Scoring → Business Insights → Dashboard → Deployment Ready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91359"/>
            <a:ext cx="8229600" cy="848648"/>
          </a:xfrm>
        </p:spPr>
        <p:txBody>
          <a:bodyPr>
            <a:normAutofit/>
          </a:bodyPr>
          <a:lstStyle/>
          <a:p>
            <a:pPr algn="ctr"/>
            <a:r>
              <a:rPr lang="en-US" b="1" dirty="0"/>
              <a:t>Conclusion</a:t>
            </a:r>
            <a:endParaRPr b="1" dirty="0"/>
          </a:p>
        </p:txBody>
      </p:sp>
      <p:sp>
        <p:nvSpPr>
          <p:cNvPr id="4" name="TextBox 3"/>
          <p:cNvSpPr txBox="1"/>
          <p:nvPr/>
        </p:nvSpPr>
        <p:spPr>
          <a:xfrm>
            <a:off x="822960" y="1760785"/>
            <a:ext cx="10515600" cy="1631216"/>
          </a:xfrm>
          <a:prstGeom prst="rect">
            <a:avLst/>
          </a:prstGeom>
          <a:noFill/>
        </p:spPr>
        <p:txBody>
          <a:bodyPr wrap="square">
            <a:spAutoFit/>
          </a:bodyPr>
          <a:lstStyle/>
          <a:p>
            <a:pPr algn="just">
              <a:defRPr sz="2000"/>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Project FORESIGHT — Demand &amp; Inventory Intelligence </a:t>
            </a:r>
            <a:r>
              <a:rPr lang="en-US" dirty="0">
                <a:latin typeface="Times New Roman" panose="02020603050405020304" pitchFamily="18" charset="0"/>
                <a:cs typeface="Times New Roman" panose="02020603050405020304" pitchFamily="18" charset="0"/>
              </a:rPr>
              <a:t>delivers an end-to-end Machine Learning solution that transforms historical retail sales, product, calendar, and inventory data into actionable demand forecasts and inventory risk insights. The solution combines data engineering, exploratory analysis, feature engineering, Random Forest forecasting, risk scoring, and interactive dashboard analytics to provide a complete retail intelligence workflow.</a:t>
            </a:r>
            <a:endParaRPr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2243EE7-E876-C723-7886-AF3694B4EDD9}"/>
              </a:ext>
            </a:extLst>
          </p:cNvPr>
          <p:cNvSpPr txBox="1"/>
          <p:nvPr/>
        </p:nvSpPr>
        <p:spPr>
          <a:xfrm>
            <a:off x="822960" y="3554949"/>
            <a:ext cx="10515600" cy="1323439"/>
          </a:xfrm>
          <a:prstGeom prst="rect">
            <a:avLst/>
          </a:prstGeom>
          <a:noFill/>
        </p:spPr>
        <p:txBody>
          <a:bodyPr wrap="square">
            <a:spAutoFit/>
          </a:bodyPr>
          <a:lstStyle/>
          <a:p>
            <a:pPr algn="just">
              <a:defRPr sz="2000"/>
            </a:pPr>
            <a:r>
              <a:rPr lang="en-US" dirty="0">
                <a:latin typeface="Times New Roman" panose="02020603050405020304" pitchFamily="18" charset="0"/>
                <a:cs typeface="Times New Roman" panose="02020603050405020304" pitchFamily="18" charset="0"/>
              </a:rPr>
              <a:t>	The project enables businesses to identify high-risk products, prioritize replenishment, monitor inventory coverage, and make demand-driven planning decisions. By connecting demand forecasting with inventory risk analysis, Project FORESIGHT helps improve inventory visibility, reduce potential stockout exposure, and support more efficient, data-driven business decision-making.</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docProps/app.xml><?xml version="1.0" encoding="utf-8"?>
<Properties xmlns="http://schemas.openxmlformats.org/officeDocument/2006/extended-properties" xmlns:vt="http://schemas.openxmlformats.org/officeDocument/2006/docPropsVTypes">
  <Template>TM04033937[[fn=Vapor Trail]]</Template>
  <TotalTime>96</TotalTime>
  <Words>1086</Words>
  <Application>Microsoft Office PowerPoint</Application>
  <PresentationFormat>Widescreen</PresentationFormat>
  <Paragraphs>148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Century Gothic</vt:lpstr>
      <vt:lpstr>Courier New</vt:lpstr>
      <vt:lpstr>Times New Roman</vt:lpstr>
      <vt:lpstr>Wingdings</vt:lpstr>
      <vt:lpstr>Vapor Trail</vt:lpstr>
      <vt:lpstr>PROJECT FORESIGHT Demand &amp; Inventory Intelligence</vt:lpstr>
      <vt:lpstr>PROBLEM STATEMENT</vt:lpstr>
      <vt:lpstr>Project Objectives</vt:lpstr>
      <vt:lpstr>Dataset &amp; Data Engineering</vt:lpstr>
      <vt:lpstr>EDA &amp; Feature Engineering</vt:lpstr>
      <vt:lpstr>Machine Learning Model</vt:lpstr>
      <vt:lpstr>Model Evaluation</vt:lpstr>
      <vt:lpstr>Inventory Risk Scoring</vt:lpstr>
      <vt:lpstr>Business Insights</vt:lpstr>
      <vt:lpstr>Business Recommendations</vt:lpstr>
      <vt:lpstr>Streamlit Dashboard</vt:lpstr>
      <vt:lpstr>Final Validation</vt:lpstr>
      <vt:lpstr>Final Project Outputs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Firoz Syed</cp:lastModifiedBy>
  <cp:revision>4</cp:revision>
  <dcterms:created xsi:type="dcterms:W3CDTF">2013-01-27T09:14:16Z</dcterms:created>
  <dcterms:modified xsi:type="dcterms:W3CDTF">2026-08-19T06:45:23Z</dcterms:modified>
  <cp:category/>
</cp:coreProperties>
</file>